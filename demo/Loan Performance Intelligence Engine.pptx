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44079"/>
            <a:ext cx="8572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ADCFC"/>
                </a:solidFill>
                <a:latin typeface="Inter"/>
              </a:rPr>
              <a:t>INTAIN CAMPUS FINTECH CHALLENGE 2026 · AI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8404"/>
            <a:ext cx="900112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0" i="0" u="none">
                <a:solidFill>
                  <a:srgbClr val="FFFFFF"/>
                </a:solidFill>
                <a:latin typeface="Merriweather Black"/>
              </a:rPr>
              <a:t>Loan Performance</a:t>
            </a:r>
            <a:r>
              <a:t>
</a:t>
            </a:r>
            <a:r>
              <a:rPr sz="4200" b="0" i="0" u="none">
                <a:solidFill>
                  <a:srgbClr val="FFFFFF"/>
                </a:solidFill>
                <a:latin typeface="Merriweather Black"/>
              </a:rPr>
              <a:t>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89845"/>
            <a:ext cx="7620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ADCFC"/>
                </a:solidFill>
                <a:latin typeface="Inter"/>
              </a:rPr>
              <a:t>An end-to-end system that profiles, predicts, explains, and narrates loan-level portfolio risk — from raw servicer data to a governed reviewer copilot.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51995"/>
            <a:ext cx="8572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 u="none">
                <a:solidFill>
                  <a:srgbClr val="E8A33D"/>
                </a:solidFill>
                <a:latin typeface="Inter"/>
              </a:rPr>
              <a:t>S.Sharvesh (sharvesh.suresh005@gmail.com)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61395"/>
            <a:ext cx="1200150" cy="311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 dirty="0">
                <a:solidFill>
                  <a:srgbClr val="E8A33D"/>
                </a:solidFill>
                <a:latin typeface="Merriweather"/>
              </a:rPr>
              <a:t>46,952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42395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ADCFC"/>
                </a:solidFill>
                <a:latin typeface="Inter Medium"/>
              </a:rPr>
              <a:t>monthly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2674" y="4261395"/>
            <a:ext cx="852641" cy="311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 dirty="0">
                <a:solidFill>
                  <a:srgbClr val="E8A33D"/>
                </a:solidFill>
                <a:latin typeface="Merriweather"/>
              </a:rPr>
              <a:t>4,1</a:t>
            </a:r>
            <a:r>
              <a:rPr lang="en-IN" sz="2400" b="1" i="0" u="none" dirty="0">
                <a:solidFill>
                  <a:srgbClr val="E8A33D"/>
                </a:solidFill>
                <a:latin typeface="Merriweather"/>
              </a:rPr>
              <a:t>6</a:t>
            </a:r>
            <a:r>
              <a:rPr sz="2400" b="1" i="0" u="none" dirty="0">
                <a:solidFill>
                  <a:srgbClr val="E8A33D"/>
                </a:solidFill>
                <a:latin typeface="Merriweather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2675" y="4642395"/>
            <a:ext cx="78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ADCFC"/>
                </a:solidFill>
                <a:latin typeface="Inter Medium"/>
              </a:rPr>
              <a:t>unique loans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0925" y="4261395"/>
            <a:ext cx="1200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E8A33D"/>
                </a:solidFill>
                <a:latin typeface="Merriweather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925" y="4642395"/>
            <a:ext cx="1200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ADCFC"/>
                </a:solidFill>
                <a:latin typeface="Inter Medium"/>
              </a:rPr>
              <a:t>predicted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4261395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E8A33D"/>
                </a:solidFill>
                <a:latin typeface="Merriweather"/>
              </a:rPr>
              <a:t>23,894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4642395"/>
            <a:ext cx="144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ADCFC"/>
                </a:solidFill>
                <a:latin typeface="Inter Medium"/>
              </a:rPr>
              <a:t>scored submission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94089"/>
            <a:ext cx="10972800" cy="11638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Panel loan data hides risk in plain 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18195"/>
            <a:ext cx="3505200" cy="32710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18195"/>
            <a:ext cx="3505200" cy="327109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518195"/>
            <a:ext cx="3505200" cy="32710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322689"/>
            <a:ext cx="10515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8A33D"/>
                </a:solidFill>
                <a:latin typeface="Inter"/>
              </a:rP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541764"/>
            <a:ext cx="105156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nter"/>
              </a:rPr>
              <a:t>A single pipeline that profiles data quality, trains calibrated multi-outcome ML models, models time-to-event survival, flags anomalies, stress-tests scenarios, explains every prediction with SHAP, and lets a governed LLM narrate — never generate — the numbers.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183252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183252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525" y="183252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3925" y="2518320"/>
            <a:ext cx="302037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2340"/>
                </a:solidFill>
                <a:latin typeface="Merriweather"/>
              </a:rPr>
              <a:t>Data quality is invisible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2965995"/>
            <a:ext cx="2876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B6B8C"/>
                </a:solidFill>
                <a:latin typeface="Inter"/>
              </a:rPr>
              <a:t>Missing documents, stale servicer updates, and status conflicts sit undetected inside monthly loan tapes.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2518320"/>
            <a:ext cx="302037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2340"/>
                </a:solidFill>
                <a:latin typeface="Merriweather"/>
              </a:rPr>
              <a:t>Single-outcome models under-serve risk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185070"/>
            <a:ext cx="2876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B6B8C"/>
                </a:solidFill>
                <a:latin typeface="Inter"/>
              </a:rPr>
              <a:t>Reviewers need delinquency, default, prepayment, and next-state — not one score.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2518320"/>
            <a:ext cx="302037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2340"/>
                </a:solidFill>
                <a:latin typeface="Merriweather"/>
              </a:rPr>
              <a:t>Black-box predictions erode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2965995"/>
            <a:ext cx="2876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B6B8C"/>
                </a:solidFill>
                <a:latin typeface="Inter"/>
              </a:rPr>
              <a:t>A probability with no driver, no exception flag, and no plain-English rationale is hard to act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One pipeline, eight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115050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u="none">
                <a:solidFill>
                  <a:srgbClr val="5B6B8C"/>
                </a:solidFill>
                <a:latin typeface="Inter"/>
              </a:rPr>
              <a:t>FR-8 · AI Development Log runs continuously across every stage above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5694"/>
            <a:ext cx="2257425" cy="704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25" y="1505694"/>
            <a:ext cx="2257425" cy="704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1505694"/>
            <a:ext cx="2257425" cy="704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975" y="1505694"/>
            <a:ext cx="2257425" cy="704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19089"/>
            <a:ext cx="3505200" cy="1123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719089"/>
            <a:ext cx="3505200" cy="1123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719089"/>
            <a:ext cx="3505200" cy="1123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51585"/>
            <a:ext cx="3225849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149" y="4351585"/>
            <a:ext cx="3225849" cy="495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4351585"/>
            <a:ext cx="3225849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600" y="5355431"/>
            <a:ext cx="3352800" cy="4667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95625" y="1743819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B6B8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1743819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B6B8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5875" y="1743819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B6B8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49" y="4484935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B6B8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7599" y="4484935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B6B8C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1696194"/>
            <a:ext cx="2028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Raw Data</a:t>
            </a:r>
            <a:r>
              <a:t>
</a:t>
            </a:r>
            <a:r>
              <a:rPr sz="1050" b="0" i="0" u="none">
                <a:solidFill>
                  <a:srgbClr val="FFFFFF"/>
                </a:solidFill>
                <a:latin typeface="Inter SemiBold"/>
              </a:rPr>
              <a:t> (8 files)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9025" y="1696194"/>
            <a:ext cx="2028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FR-1</a:t>
            </a:r>
            <a:r>
              <a:t>
</a:t>
            </a:r>
            <a:r>
              <a:rPr sz="1050" b="0" i="0" u="none">
                <a:solidFill>
                  <a:srgbClr val="FFFFFF"/>
                </a:solidFill>
                <a:latin typeface="Inter SemiBold"/>
              </a:rPr>
              <a:t> Profiling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1696194"/>
            <a:ext cx="2028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Feature</a:t>
            </a:r>
            <a:r>
              <a:t>
</a:t>
            </a:r>
            <a:r>
              <a:rPr sz="1050" b="0" i="0" u="none">
                <a:solidFill>
                  <a:srgbClr val="FFFFFF"/>
                </a:solidFill>
                <a:latin typeface="Inter SemiBold"/>
              </a:rPr>
              <a:t>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9275" y="1696194"/>
            <a:ext cx="2028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41A44"/>
                </a:solidFill>
                <a:latin typeface="Inter"/>
              </a:rPr>
              <a:t>Time-Aware</a:t>
            </a:r>
            <a:r>
              <a:t>
</a:t>
            </a:r>
            <a:r>
              <a:rPr sz="1050" b="1" i="0" u="none">
                <a:solidFill>
                  <a:srgbClr val="141A44"/>
                </a:solidFill>
                <a:latin typeface="Inter"/>
              </a:rPr>
              <a:t>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2890539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8A33D"/>
                </a:solidFill>
                <a:latin typeface="Inter"/>
              </a:rPr>
              <a:t>FR-2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3185814"/>
            <a:ext cx="332041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Prediction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3528714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B6B8C"/>
                </a:solidFill>
                <a:latin typeface="Inter"/>
              </a:rPr>
              <a:t>LightGBM · delinquency, default, prepayment, next-state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4850" y="2890539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8A33D"/>
                </a:solidFill>
                <a:latin typeface="Inter"/>
              </a:rPr>
              <a:t>FR-3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4850" y="3185814"/>
            <a:ext cx="332041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Survival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850" y="3528714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B6B8C"/>
                </a:solidFill>
                <a:latin typeface="Inter"/>
              </a:rPr>
              <a:t>Discrete-time hazard model · handles right-censoring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8650" y="2890539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8A33D"/>
                </a:solidFill>
                <a:latin typeface="Inter"/>
              </a:rPr>
              <a:t>FR-4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8650" y="3185814"/>
            <a:ext cx="332041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Anomaly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8650" y="3528714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B6B8C"/>
                </a:solidFill>
                <a:latin typeface="Inter"/>
              </a:rPr>
              <a:t>Isolation Forest + rule engine on validation_rules.json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FR-1 · DATA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Every field profiled before a model sees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65795"/>
            <a:ext cx="952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6B8C"/>
                </a:solidFill>
                <a:latin typeface="Inter"/>
              </a:rPr>
              <a:t>46,952 monthly records across 4,169 loans, spanning 2022–2024, profiled for distributions, missingness by servicer and state, and a per-record data quality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203995"/>
            <a:ext cx="5753100" cy="405392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73573"/>
            <a:ext cx="4991100" cy="752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54648"/>
            <a:ext cx="4991100" cy="752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835723"/>
            <a:ext cx="4991100" cy="752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0300" y="2584995"/>
            <a:ext cx="4991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8A33D"/>
                </a:solidFill>
                <a:latin typeface="Inter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305172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ADCFC"/>
                </a:solidFill>
                <a:latin typeface="Inter"/>
              </a:rPr>
              <a:t>Every issue this stage surfaces directly drives a downstream signal — nothing is profiled and then ignored.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035498"/>
            <a:ext cx="1333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C0392B"/>
                </a:solidFill>
                <a:latin typeface="Merriweather"/>
              </a:rPr>
              <a:t>3,158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7450" y="3159323"/>
            <a:ext cx="2266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B2340"/>
                </a:solidFill>
                <a:latin typeface="Inter Medium"/>
              </a:rPr>
              <a:t>records with a missing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016573"/>
            <a:ext cx="1333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E8A33D"/>
                </a:solidFill>
                <a:latin typeface="Merriweather"/>
              </a:rPr>
              <a:t>469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7450" y="4140398"/>
            <a:ext cx="2524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B2340"/>
                </a:solidFill>
                <a:latin typeface="Inter Medium"/>
              </a:rPr>
              <a:t>multivariate outliers flagged (1.00%)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997648"/>
            <a:ext cx="1333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761"/>
                </a:solidFill>
                <a:latin typeface="Merriweather"/>
              </a:rPr>
              <a:t>1,857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7450" y="5121473"/>
            <a:ext cx="27527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B2340"/>
                </a:solidFill>
                <a:latin typeface="Inter Medium"/>
              </a:rPr>
              <a:t>total records requiring exception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300" y="3966120"/>
            <a:ext cx="4991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latin typeface="Inter"/>
              </a:rPr>
              <a:t>◆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Missing documents  →  document_gap exception flag (FR-4)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300" y="4404270"/>
            <a:ext cx="4991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latin typeface="Inter"/>
              </a:rPr>
              <a:t>◆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Stale servicer timestamps  →  stale_servicer_update flag (FR-4)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300" y="4842420"/>
            <a:ext cx="4991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latin typeface="Inter"/>
              </a:rPr>
              <a:t>◆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Field-level quality score  →  input to anomaly_score weighting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300" y="5280570"/>
            <a:ext cx="49911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latin typeface="Inter"/>
              </a:rPr>
              <a:t>◆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Drift &amp; association stats  →  logged in data_intelligence_report.md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FEATURE ENGINEERING &amp;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36 features, zero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8720"/>
            <a:ext cx="4883794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23170"/>
            <a:ext cx="4883794" cy="895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85220"/>
            <a:ext cx="4883794" cy="895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994" y="1908720"/>
            <a:ext cx="5860405" cy="226322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994" y="5210175"/>
            <a:ext cx="5860405" cy="1047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1518195"/>
            <a:ext cx="488379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FEATURE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1994" y="1518195"/>
            <a:ext cx="586040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TIME-AWARE SPLIT — NEVER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1994" y="4476750"/>
            <a:ext cx="586040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B2340"/>
                </a:solidFill>
                <a:latin typeface="Inter"/>
              </a:rPr>
              <a:t>Panel data means random row-level splits leak future months into training. The cutoff is fixed at 2024-07-01 — this is the single most important step for preventing leakage.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794" y="2855565"/>
            <a:ext cx="5250805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25" y="2108745"/>
            <a:ext cx="470793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Lag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451645"/>
            <a:ext cx="448374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Previous DPD, previous balance, and month-over-month changes — capture payment momentum.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423195"/>
            <a:ext cx="470793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Ratio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766095"/>
            <a:ext cx="448374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Balance ratio, rate spread — normalize across loan sizes and rate regimes.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585245"/>
            <a:ext cx="470793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Staleness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928145"/>
            <a:ext cx="448374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Time since last servicer update — surfaces reporting lag.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6794" y="2484090"/>
            <a:ext cx="525080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CADCFC"/>
                </a:solidFill>
                <a:latin typeface="Inter"/>
              </a:rPr>
              <a:t>2022 2024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6794" y="3274665"/>
            <a:ext cx="5250805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latin typeface="Inter SemiBold"/>
              </a:rPr>
              <a:t>TRAIN → Jun 2024</a:t>
            </a:r>
            <a:r>
              <a:rPr sz="975" b="0" i="0" u="none">
                <a:solidFill>
                  <a:srgbClr val="FFFFFF"/>
                </a:solidFill>
                <a:latin typeface="Inter SemiBold"/>
              </a:rPr>
              <a:t> </a:t>
            </a:r>
            <a:r>
              <a:rPr sz="975" b="0" i="0" u="none">
                <a:latin typeface="Inter SemiBold"/>
              </a:rPr>
              <a:t>TEST</a:t>
            </a:r>
            <a:r>
              <a:t>
</a:t>
            </a:r>
            <a:r>
              <a:rPr sz="975" b="0" i="0" u="none">
                <a:latin typeface="Inter SemiBold"/>
              </a:rPr>
              <a:t> Oct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0119" y="5448300"/>
            <a:ext cx="62749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A33D"/>
                </a:solidFill>
                <a:latin typeface="Merriweather"/>
              </a:rPr>
              <a:t>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2119" y="5547419"/>
            <a:ext cx="462215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B2340"/>
                </a:solidFill>
                <a:latin typeface="Inter"/>
              </a:rPr>
              <a:t>engineered features feed every downstream model — prediction, survival, and anomaly detection all share one feature stack.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26794" y="2855565"/>
            <a:ext cx="3937992" cy="1524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64787" y="2855565"/>
            <a:ext cx="1312664" cy="152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FR-2 · PREDICTION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From a naive baseline to a calibrated 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4739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175795"/>
            <a:ext cx="10972800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5720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5B6B8C"/>
                </a:solidFill>
                <a:latin typeface="Inter"/>
              </a:rPr>
              <a:t>*AUC of 0.99 with PR-AUC context documented in model_performance_report.md — evaluated on strictly held-out, time-separated test data.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1518195"/>
            <a:ext cx="35559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300" y="1518195"/>
            <a:ext cx="3556099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337345"/>
            <a:ext cx="3555950" cy="542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950" y="2337345"/>
            <a:ext cx="3555950" cy="542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6300" y="2337345"/>
            <a:ext cx="3556099" cy="542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32670"/>
            <a:ext cx="3555950" cy="542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3032670"/>
            <a:ext cx="3555950" cy="542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300" y="3032670"/>
            <a:ext cx="3556099" cy="542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727995"/>
            <a:ext cx="3555950" cy="542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3727995"/>
            <a:ext cx="3555950" cy="542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6300" y="3727995"/>
            <a:ext cx="3556099" cy="5429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5404395"/>
            <a:ext cx="1088136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8A33D"/>
                </a:solidFill>
                <a:latin typeface="Merriweather"/>
              </a:rPr>
              <a:t>Why LightGBM for all five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37770"/>
            <a:ext cx="103632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FFFFF"/>
                </a:solidFill>
                <a:latin typeface="Inter"/>
              </a:rPr>
              <a:t>One library, one API, fast iteration. Class imbalance handled via scale_pos_weight; isotonic calibration converts raw scores into empirical probabilities the copilot can narrate.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350" y="1670595"/>
            <a:ext cx="3251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Inter"/>
              </a:rPr>
              <a:t>Logistic Regression</a:t>
            </a:r>
            <a:r>
              <a:t>
</a:t>
            </a:r>
            <a:r>
              <a:rPr sz="1125" b="0" i="0" u="none">
                <a:solidFill>
                  <a:srgbClr val="FFFFFF"/>
                </a:solidFill>
                <a:latin typeface="Inter"/>
              </a:rPr>
              <a:t>(baseline)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700" y="1670595"/>
            <a:ext cx="32512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Inter"/>
              </a:rPr>
              <a:t>Tuned LightGBM</a:t>
            </a:r>
            <a:r>
              <a:t>
</a:t>
            </a:r>
            <a:r>
              <a:rPr sz="1125" b="0" i="0" u="none">
                <a:solidFill>
                  <a:srgbClr val="FFFFFF"/>
                </a:solidFill>
                <a:latin typeface="Inter"/>
              </a:rPr>
              <a:t>(improved)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FR-3 · SURVIVAL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Not just if a loan fails —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367141"/>
            <a:ext cx="109728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78" y="1103857"/>
            <a:ext cx="3473499" cy="22452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78" y="3526364"/>
            <a:ext cx="3473499" cy="20381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09936" y="1384849"/>
            <a:ext cx="306766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E8A33D"/>
                </a:solidFill>
                <a:latin typeface="Inter"/>
              </a:rPr>
              <a:t>MODEL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9936" y="1669552"/>
            <a:ext cx="307688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latin typeface="Inter"/>
              </a:rPr>
              <a:t>0.9976</a:t>
            </a:r>
            <a:r>
              <a:rPr sz="1200"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 dirty="0">
                <a:latin typeface="Inter"/>
              </a:rPr>
              <a:t>hazard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718" y="2088315"/>
            <a:ext cx="307688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latin typeface="Inter"/>
              </a:rPr>
              <a:t>0.5146</a:t>
            </a:r>
            <a:r>
              <a:rPr sz="1200"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 dirty="0">
                <a:latin typeface="Inter"/>
              </a:rPr>
              <a:t>flat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718" y="2660153"/>
            <a:ext cx="3076881" cy="369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CADCFC"/>
                </a:solidFill>
                <a:latin typeface="Inter"/>
              </a:rPr>
              <a:t>Discrete-time hazard model correctly handles right-censored loans still active at period 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718" y="3681412"/>
            <a:ext cx="305783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761"/>
                </a:solidFill>
                <a:latin typeface="Inter"/>
              </a:rPr>
              <a:t>KEY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0718" y="4071597"/>
            <a:ext cx="3067357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IN" sz="1125" dirty="0">
                <a:solidFill>
                  <a:srgbClr val="1B2340"/>
                </a:solidFill>
                <a:latin typeface="Inter"/>
              </a:rPr>
              <a:t>L</a:t>
            </a:r>
            <a:r>
              <a:rPr sz="1125" b="0" i="0" u="none" dirty="0" err="1">
                <a:solidFill>
                  <a:srgbClr val="1B2340"/>
                </a:solidFill>
                <a:latin typeface="Inter"/>
              </a:rPr>
              <a:t>oans</a:t>
            </a:r>
            <a:r>
              <a:rPr sz="1125" b="0" i="0" u="none" dirty="0">
                <a:solidFill>
                  <a:srgbClr val="1B2340"/>
                </a:solidFill>
                <a:latin typeface="Inter"/>
              </a:rPr>
              <a:t> under 600 credit score fail roughly twice as fast as higher bands — visible directly in the curve's steeper early drop.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719" y="4937810"/>
            <a:ext cx="3067356" cy="347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1" u="none" dirty="0">
                <a:solidFill>
                  <a:srgbClr val="5B6B8C"/>
                </a:solidFill>
                <a:latin typeface="Inter"/>
              </a:rPr>
              <a:t>Design choice: only lag features are used (current-month DPD excluded) to prevent within-loan temporal leakage.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F34046-0DD2-1EE1-AEBC-1C38F9A36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82" y="1719057"/>
            <a:ext cx="6716802" cy="40300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FR-4 ·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Hybrid rules + Isolation Forest catch what models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4395"/>
            <a:ext cx="4724400" cy="46635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6800" y="3945135"/>
            <a:ext cx="3810000" cy="9525"/>
          </a:xfrm>
          <a:prstGeom prst="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440560"/>
            <a:ext cx="3810000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4749254"/>
            <a:ext cx="5715000" cy="13732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2116335"/>
            <a:ext cx="400050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 u="none">
                <a:solidFill>
                  <a:srgbClr val="E8A33D"/>
                </a:solidFill>
                <a:latin typeface="Merriweather"/>
              </a:rPr>
              <a:t>1,857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211710"/>
            <a:ext cx="381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"/>
              </a:rPr>
              <a:t>records flagged for exception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411860"/>
            <a:ext cx="3810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ADCFC"/>
                </a:solidFill>
                <a:latin typeface="Inter"/>
              </a:rPr>
              <a:t>Example: LN000000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840485"/>
            <a:ext cx="381000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latin typeface="Inter"/>
              </a:rPr>
              <a:t>Anomaly score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1" i="0" u="none">
                <a:latin typeface="Inter"/>
              </a:rPr>
              <a:t>0.733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400" y="1882229"/>
            <a:ext cx="571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EXCEPTION TYPE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5525" y="4987379"/>
            <a:ext cx="5238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2761"/>
                </a:solidFill>
                <a:latin typeface="Inter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5525" y="5244554"/>
            <a:ext cx="52387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1B2340"/>
                </a:solidFill>
                <a:latin typeface="Inter"/>
              </a:rPr>
              <a:t>Deterministic rules from validation_rules.json take precedence and set the </a:t>
            </a:r>
            <a:r>
              <a:rPr sz="1050" b="0" i="0" u="none">
                <a:latin typeface="Inter"/>
              </a:rPr>
              <a:t>exception_type</a:t>
            </a:r>
            <a:r>
              <a:rPr sz="1050" b="0" i="0" u="none">
                <a:solidFill>
                  <a:srgbClr val="1B2340"/>
                </a:solidFill>
                <a:latin typeface="Inter"/>
              </a:rPr>
              <a:t>. Isolation Forest layers a continuous </a:t>
            </a:r>
            <a:r>
              <a:rPr sz="1050" b="0" i="0" u="none">
                <a:latin typeface="Inter"/>
              </a:rPr>
              <a:t>anomaly_score</a:t>
            </a:r>
            <a:r>
              <a:rPr sz="1050" b="0" i="0" u="none">
                <a:solidFill>
                  <a:srgbClr val="1B2340"/>
                </a:solidFill>
                <a:latin typeface="Inter"/>
              </a:rPr>
              <a:t> on top, catching multivariate outliers that no single rule would trip.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2768054"/>
            <a:ext cx="5715000" cy="76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3415754"/>
            <a:ext cx="5715000" cy="76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4063454"/>
            <a:ext cx="5715000" cy="76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67400" y="2501354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latin typeface="Inter"/>
              </a:rPr>
              <a:t>document_gap</a:t>
            </a:r>
            <a:r>
              <a:rPr sz="1200" b="0" i="0" u="none">
                <a:solidFill>
                  <a:srgbClr val="1B2340"/>
                </a:solidFill>
                <a:latin typeface="Inter"/>
              </a:rPr>
              <a:t> </a:t>
            </a:r>
            <a:r>
              <a:rPr sz="1200" b="1" i="0" u="none">
                <a:latin typeface="Inter"/>
              </a:rPr>
              <a:t>1161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7400" y="3149054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latin typeface="Inter"/>
              </a:rPr>
              <a:t>stale_servicer_update</a:t>
            </a:r>
            <a:r>
              <a:rPr sz="1200" b="0" i="0" u="none">
                <a:solidFill>
                  <a:srgbClr val="1B2340"/>
                </a:solidFill>
                <a:latin typeface="Inter"/>
              </a:rPr>
              <a:t> </a:t>
            </a:r>
            <a:r>
              <a:rPr sz="1200" b="1" i="0" u="none">
                <a:latin typeface="Inter"/>
              </a:rPr>
              <a:t>736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3796754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latin typeface="Inter"/>
              </a:rPr>
              <a:t>balance_mismatch / other</a:t>
            </a:r>
            <a:r>
              <a:rPr sz="1200" b="0" i="0" u="none">
                <a:solidFill>
                  <a:srgbClr val="1B2340"/>
                </a:solidFill>
                <a:latin typeface="Inter"/>
              </a:rPr>
              <a:t> </a:t>
            </a:r>
            <a:r>
              <a:rPr sz="1200" b="1" i="0" u="none">
                <a:latin typeface="Inter"/>
              </a:rPr>
              <a:t>-40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6925" y="2777579"/>
            <a:ext cx="569595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76925" y="3425279"/>
            <a:ext cx="3588394" cy="5715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76925" y="4072979"/>
            <a:ext cx="284708" cy="57150"/>
          </a:xfrm>
          <a:prstGeom prst="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400675"/>
            <a:ext cx="10972800" cy="857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FR-5 · SCENARIO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Stress-testing the portfolio before the market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09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65795"/>
            <a:ext cx="3505200" cy="37300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65795"/>
            <a:ext cx="3505200" cy="373007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65795"/>
            <a:ext cx="3505200" cy="37300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629275"/>
            <a:ext cx="10515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8A33D"/>
                </a:solidFill>
                <a:latin typeface="Inter"/>
              </a:rPr>
              <a:t>HONEST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867400"/>
            <a:ext cx="10515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"/>
              </a:rPr>
              <a:t>Prepayment response is muted because synthetic data doesn't capture rate-spread sensitivity — documented explicitly, not hidden.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3800475"/>
            <a:ext cx="3048000" cy="1066800"/>
          </a:xfrm>
          <a:prstGeom prst="roundRect">
            <a:avLst>
              <a:gd name="adj" fmla="val 5357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0" y="2733675"/>
            <a:ext cx="3048000" cy="2133600"/>
          </a:xfrm>
          <a:prstGeom prst="roundRect">
            <a:avLst>
              <a:gd name="adj" fmla="val 2678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05800" y="2733675"/>
            <a:ext cx="3048000" cy="2133600"/>
          </a:xfrm>
          <a:prstGeom prst="roundRect">
            <a:avLst>
              <a:gd name="adj" fmla="val 2678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200" y="1594395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2340"/>
                </a:solidFill>
                <a:latin typeface="Merriweather"/>
              </a:rPr>
              <a:t>Base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88967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current macro trajectory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4999" y="3267075"/>
            <a:ext cx="104467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5B6B8C"/>
                </a:solidFill>
                <a:latin typeface="Merriweather"/>
              </a:rPr>
              <a:t>9.65%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594395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2340"/>
                </a:solidFill>
                <a:latin typeface="Merriweather"/>
              </a:rPr>
              <a:t>Adverse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8967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8.5% unemployment, HPI −10%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3087" y="2200275"/>
            <a:ext cx="100335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C0392B"/>
                </a:solidFill>
                <a:latin typeface="Merriweather"/>
              </a:rPr>
              <a:t>47.6%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1594395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2340"/>
                </a:solidFill>
                <a:latin typeface="Merriweather"/>
              </a:rPr>
              <a:t>600–649 band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188967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hit hardest under 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762" y="2200275"/>
            <a:ext cx="14504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E8A33D"/>
                </a:solidFill>
                <a:latin typeface="Merriweather"/>
              </a:rPr>
              <a:t>+52.4 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FR-6 · EXPLAINABILITY — GLOBAL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Every prediction is explainable, not just accurate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9032" y="1735335"/>
            <a:ext cx="456336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SHAP GLOBAL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9032" y="2202060"/>
            <a:ext cx="479153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2340"/>
                </a:solidFill>
                <a:latin typeface="Merriweather"/>
              </a:rPr>
              <a:t>Delinquency model — top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9032" y="5516760"/>
            <a:ext cx="456336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1" u="none">
                <a:solidFill>
                  <a:srgbClr val="5B6B8C"/>
                </a:solidFill>
                <a:latin typeface="Inter"/>
              </a:rPr>
              <a:t>Global summaries exist for all three predictive models, alongside documented false-positive and false-negative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9032" y="29069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19032" y="35165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19032" y="41261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19032" y="47357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5732" y="2849760"/>
            <a:ext cx="3057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Inter"/>
              </a:rPr>
              <a:t>days_past_due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5732" y="3078360"/>
            <a:ext cx="3057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Dominant driver — high DPD pushes risk sharply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5732" y="3459360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Inter"/>
              </a:rPr>
              <a:t>current_balance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5732" y="3687960"/>
            <a:ext cx="27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Larger balances trend protective in this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5732" y="4068960"/>
            <a:ext cx="2686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Inter"/>
              </a:rPr>
              <a:t>credit_score_band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5732" y="4297560"/>
            <a:ext cx="2686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Lower bands consistently raise predicted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5732" y="4678560"/>
            <a:ext cx="2352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Inter"/>
              </a:rPr>
              <a:t>balance_ratio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5732" y="4907160"/>
            <a:ext cx="2352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Captures principal paydown momentum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F4B281C-0D99-276A-EBA0-A09BE14EB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86" y="1451519"/>
            <a:ext cx="4639884" cy="51990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FR-6 · EXPLAINABILITY — LOCAL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Why this loan, specifically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34944"/>
            <a:ext cx="109728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11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01" y="1046261"/>
            <a:ext cx="3930699" cy="48235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32700" y="3127920"/>
            <a:ext cx="3168699" cy="9525"/>
          </a:xfrm>
          <a:prstGeom prst="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482" y="4949997"/>
            <a:ext cx="3168699" cy="390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74266" y="1289595"/>
            <a:ext cx="332713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E8A33D"/>
                </a:solidFill>
                <a:latin typeface="Inter"/>
              </a:rPr>
              <a:t>LOAN LN000000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266" y="1594395"/>
            <a:ext cx="3485568" cy="521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 dirty="0">
                <a:solidFill>
                  <a:srgbClr val="FFFFFF"/>
                </a:solidFill>
                <a:latin typeface="Merriweather"/>
              </a:rPr>
              <a:t>SHAP waterfall — one prediction, fully decomposed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266" y="2390556"/>
            <a:ext cx="3327133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latin typeface="Inter"/>
              </a:rPr>
              <a:t>current_balance</a:t>
            </a:r>
            <a:r>
              <a:rPr sz="1125" b="0" i="0" u="none" dirty="0">
                <a:solidFill>
                  <a:srgbClr val="CADCFC"/>
                </a:solidFill>
                <a:latin typeface="Inter"/>
              </a:rPr>
              <a:t> is the single largest driver, pulling the prediction down by −2.87.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266" y="3289846"/>
            <a:ext cx="3327133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latin typeface="Inter"/>
              </a:rPr>
              <a:t>balance_ratio</a:t>
            </a:r>
            <a:r>
              <a:rPr sz="1125" b="0" i="0" u="none" dirty="0">
                <a:solidFill>
                  <a:srgbClr val="CADCFC"/>
                </a:solidFill>
                <a:latin typeface="Inter"/>
              </a:rPr>
              <a:t> and </a:t>
            </a:r>
            <a:r>
              <a:rPr sz="1125" b="1" i="0" u="none" dirty="0" err="1">
                <a:latin typeface="Inter"/>
              </a:rPr>
              <a:t>days_past_due</a:t>
            </a:r>
            <a:r>
              <a:rPr sz="1125" b="0" i="0" u="none" dirty="0">
                <a:solidFill>
                  <a:srgbClr val="CADCFC"/>
                </a:solidFill>
                <a:latin typeface="Inter"/>
              </a:rPr>
              <a:t> add smaller downward contributions.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266" y="4006626"/>
            <a:ext cx="3327133" cy="562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1" u="none" dirty="0">
                <a:solidFill>
                  <a:srgbClr val="CADCFC"/>
                </a:solidFill>
                <a:latin typeface="Inter"/>
              </a:rPr>
              <a:t>Every field, value, and contribution shown here is retrieved directly from the trained model — nothing is generated by an LLM.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BF94F4-729B-49E3-D467-A65660D4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6" y="1427582"/>
            <a:ext cx="6794090" cy="47354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FR-7 · LLM REVIEWER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B2340"/>
                </a:solidFill>
                <a:latin typeface="Merriweather"/>
              </a:rPr>
              <a:t>The LLM narrates the numbers — it never invents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2195"/>
            <a:ext cx="10972800" cy="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5B6B8C"/>
                </a:solidFill>
                <a:latin typeface="Inter Medium"/>
              </a:rPr>
              <a:t>12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5795"/>
            <a:ext cx="556260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4556670"/>
            <a:ext cx="4953000" cy="9525"/>
          </a:xfrm>
          <a:prstGeom prst="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080670"/>
            <a:ext cx="4953000" cy="466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32520"/>
            <a:ext cx="4953000" cy="1028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66020"/>
            <a:ext cx="4953000" cy="876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347120"/>
            <a:ext cx="4953000" cy="876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670595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8A33D"/>
                </a:solidFill>
                <a:latin typeface="Inter"/>
              </a:rPr>
              <a:t>GROUNDED, NOT GENERATIVE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37320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ADCFC"/>
                </a:solidFill>
                <a:latin typeface="Inter"/>
              </a:rPr>
              <a:t>Gemini API, with a deterministic MockLLM fallback so the pipeline always completes — API key or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47195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Writes: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37720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1" u="none">
                <a:solidFill>
                  <a:srgbClr val="CADCFC"/>
                </a:solidFill>
                <a:latin typeface="Inter"/>
              </a:rPr>
              <a:t>A plain-English reviewer note — always labeled "Recommendation — not a decision."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365795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761"/>
                </a:solidFill>
                <a:latin typeface="Inter"/>
              </a:rPr>
              <a:t>DOCUMENTED FAILURES — CAUGHT &amp; CORRECTED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061120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394620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575720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3023145"/>
            <a:ext cx="495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Reads: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6233070"/>
            <a:ext cx="464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41A44"/>
                </a:solidFill>
                <a:latin typeface="Inter"/>
              </a:rPr>
              <a:t>Every LLM output is labeled: “Recommendation — not a decision”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337470"/>
            <a:ext cx="24193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050" y="3337470"/>
            <a:ext cx="2419350" cy="3619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813720"/>
            <a:ext cx="2419350" cy="3619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8050" y="3813720"/>
            <a:ext cx="24193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0" y="2061120"/>
            <a:ext cx="424053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Hallucinated a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327820"/>
            <a:ext cx="4038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LLM invented an anomaly score when the field was missing from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394620"/>
            <a:ext cx="424053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Overclaimed certainty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661320"/>
            <a:ext cx="403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Said a loan WILL default — rejected for stating a probability as fact.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575720"/>
            <a:ext cx="424053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340"/>
                </a:solidFill>
                <a:latin typeface="Merriweather"/>
              </a:rPr>
              <a:t>Explained a phantom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42420"/>
            <a:ext cx="403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B6B8C"/>
                </a:solidFill>
                <a:latin typeface="Inter"/>
              </a:rPr>
              <a:t>Referenced a feature that doesn't exist in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ADCFC"/>
                </a:solidFill>
                <a:latin typeface="Inter"/>
              </a:rPr>
              <a:t>SUBMISSION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715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Merriweather"/>
              </a:rPr>
              <a:t>One command, a complete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251745"/>
            <a:ext cx="952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ADCFC"/>
                </a:solidFill>
                <a:latin typeface="Inter"/>
              </a:rPr>
              <a:t>Every row carries probabilities across 4 horizons, a predicted next state, confidence, anomaly score, exception type, top SHAP drivers, and a labeled LLM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19800"/>
            <a:ext cx="109728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CADCFC"/>
                </a:solidFill>
                <a:latin typeface="Merriweather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57925"/>
            <a:ext cx="10972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CADCFC"/>
                </a:solidFill>
                <a:latin typeface="Inter Medium"/>
              </a:rPr>
              <a:t>13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4395"/>
            <a:ext cx="2514600" cy="1276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94395"/>
            <a:ext cx="2514600" cy="1276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594395"/>
            <a:ext cx="2514600" cy="1276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1594395"/>
            <a:ext cx="2514600" cy="1276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4330154"/>
            <a:ext cx="5372100" cy="15256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899195"/>
            <a:ext cx="1905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E8A33D"/>
                </a:solidFill>
                <a:latin typeface="Merriweather"/>
              </a:rPr>
              <a:t>23,894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020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ADCFC"/>
                </a:solidFill>
                <a:latin typeface="Inter"/>
              </a:rPr>
              <a:t>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800" y="1899195"/>
            <a:ext cx="1905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E8A33D"/>
                </a:solidFill>
                <a:latin typeface="Merriweather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2404020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ADCFC"/>
                </a:solidFill>
                <a:latin typeface="Inter"/>
              </a:rP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1899195"/>
            <a:ext cx="1905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E8A33D"/>
                </a:solidFill>
                <a:latin typeface="Merriweather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2404020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ADCFC"/>
                </a:solidFill>
                <a:latin typeface="Inter"/>
              </a:rPr>
              <a:t>nulls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99195"/>
            <a:ext cx="1905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E8A33D"/>
                </a:solidFill>
                <a:latin typeface="Merriweather"/>
              </a:rPr>
              <a:t>42×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404020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ADCFC"/>
                </a:solidFill>
                <a:latin typeface="Inter"/>
              </a:rPr>
              <a:t>reproducible seed 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166145"/>
            <a:ext cx="5372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8A33D"/>
                </a:solidFill>
                <a:latin typeface="Inter"/>
              </a:rPr>
              <a:t>DISQUALIFIER AUDIT — SELF-VERIFIED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632870"/>
            <a:ext cx="53721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latin typeface="Inter"/>
              </a:rPr>
              <a:t>✓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Predictions come from trained ML, not LLM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985295"/>
            <a:ext cx="53721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latin typeface="Inter"/>
              </a:rPr>
              <a:t>✓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Time-aware split — no random row-level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337720"/>
            <a:ext cx="53721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latin typeface="Inter"/>
              </a:rPr>
              <a:t>✓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All 7 target columns excluded from feature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690145"/>
            <a:ext cx="53721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latin typeface="Inter"/>
              </a:rPr>
              <a:t>✓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latin typeface="Inter"/>
              </a:rPr>
              <a:t>Every metric from actual held-out evaluation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4634954"/>
            <a:ext cx="4762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8A33D"/>
                </a:solidFill>
                <a:latin typeface="Inter"/>
              </a:rPr>
              <a:t>FR-8 · AI DEVELOPMENT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4911179"/>
            <a:ext cx="47625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FFFFF"/>
                </a:solidFill>
                <a:latin typeface="Inter"/>
              </a:rPr>
              <a:t>Every prompt, every accepted and rejected output, logged continuously throughout the build — not written retroactively. It shows where the AI got things wrong and how it was corrected.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1251</Words>
  <Application>Microsoft Office PowerPoint</Application>
  <PresentationFormat>Widescreen</PresentationFormat>
  <Paragraphs>180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Inter Medium</vt:lpstr>
      <vt:lpstr>Inter SemiBold</vt:lpstr>
      <vt:lpstr>Merriweather</vt:lpstr>
      <vt:lpstr>Merriweather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Sharvesh S</cp:lastModifiedBy>
  <cp:revision>2</cp:revision>
  <dcterms:created xsi:type="dcterms:W3CDTF">2013-01-27T09:14:16Z</dcterms:created>
  <dcterms:modified xsi:type="dcterms:W3CDTF">2026-08-31T15:54:17Z</dcterms:modified>
  <cp:category/>
</cp:coreProperties>
</file>