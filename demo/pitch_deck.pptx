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Loan Performance Intelligence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</a:defRPr>
            </a:pPr>
            <a:r>
              <a:t>Intain Campus FinTech Challenge 2026 —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End-to-end ML pipeline for loan-level portfolio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Solo Build  ·  Python  ·  LightGBM  ·  SHAP  ·  Gemini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</a:defRPr>
            </a:pPr>
            <a:r>
              <a:t>PROBLEM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Loan portfolios have thousands of records</a:t>
            </a:r>
          </a:p>
          <a:p>
            <a:pPr>
              <a:defRPr sz="1600" b="0">
                <a:solidFill>
                  <a:srgbClr val="94A3B8"/>
                </a:solidFill>
              </a:defRPr>
            </a:pPr>
            <a:r>
              <a:t>  updated monthly — manual review doesn't scale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Predicting delinquency, default, and prepayment</a:t>
            </a:r>
          </a:p>
          <a:p>
            <a:pPr>
              <a:defRPr sz="1600" b="0">
                <a:solidFill>
                  <a:srgbClr val="94A3B8"/>
                </a:solidFill>
              </a:defRPr>
            </a:pPr>
            <a:r>
              <a:t>  requires handling rare events and time-series data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Data quality issues (stale updates, missing docs)</a:t>
            </a:r>
          </a:p>
          <a:p>
            <a:pPr>
              <a:defRPr sz="1600" b="0">
                <a:solidFill>
                  <a:srgbClr val="94A3B8"/>
                </a:solidFill>
              </a:defRPr>
            </a:pPr>
            <a:r>
              <a:t>  go undetected without automated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SOLUTION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One-command pipeline: raw data → scored output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  python -m src.run_pipeline --stage all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5 calibrated prediction models + survival model</a:t>
            </a:r>
          </a:p>
          <a:p>
            <a:pPr>
              <a:defRPr sz="1600" b="0">
                <a:solidFill>
                  <a:srgbClr val="94A3B8"/>
                </a:solidFill>
              </a:defRPr>
            </a:pPr>
            <a:r>
              <a:t>  with time-aware splits to prevent data leakage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Hybrid anomaly detection (rules + Isolation Forest)</a:t>
            </a:r>
          </a:p>
          <a:p>
            <a:pPr>
              <a:defRPr sz="1600" b="0">
                <a:solidFill>
                  <a:srgbClr val="94A3B8"/>
                </a:solidFill>
              </a:defRPr>
            </a:pPr>
            <a:r>
              <a:t>  + governed LLM copilot for reviewer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Raw Data  →  FR-1: Data Profiling  →  Feature Engineering  →  Time-Aware Split</a:t>
            </a:r>
            <a:br/>
            <a:br/>
            <a:r>
              <a:t>     ┌──────────────────┬───────────────────┬──────────────────┐</a:t>
            </a:r>
            <a:br/>
            <a:r>
              <a:t>     │                  │                   │                  │</a:t>
            </a:r>
            <a:br/>
            <a:r>
              <a:t>FR-2: Predictions   FR-3: Survival      FR-4: Anomaly</a:t>
            </a:r>
            <a:br/>
            <a:r>
              <a:t>  (LightGBM ×5)     (Hazard Model)      (IF + Rules)</a:t>
            </a:r>
            <a:br/>
            <a:r>
              <a:t>     │                  │                   │</a:t>
            </a:r>
            <a:br/>
            <a:r>
              <a:t>     └──────────────────┴───────────────────┘</a:t>
            </a:r>
            <a:br/>
            <a:r>
              <a:t>                        │</a:t>
            </a:r>
            <a:br/>
            <a:r>
              <a:t>              FR-6: Explainability (SHAP)</a:t>
            </a:r>
            <a:br/>
            <a:r>
              <a:t>                        │</a:t>
            </a:r>
            <a:br/>
            <a:r>
              <a:t>              FR-5: Scenario Simulation</a:t>
            </a:r>
            <a:br/>
            <a:r>
              <a:t>                        │</a:t>
            </a:r>
            <a:br/>
            <a:r>
              <a:t>              FR-7: LLM Copilot (Gemini)</a:t>
            </a:r>
            <a:br/>
            <a:r>
              <a:t>                        │</a:t>
            </a:r>
            <a:br/>
            <a:r>
              <a:t>                  submission.csv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Model Performance —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Baseline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Improved 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59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Brier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3m Delinquency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0.734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0.754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5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0.067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6m Delinquency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0.773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0.091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12m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0.781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832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923C"/>
                </a:solidFill>
              </a:defRPr>
            </a:pPr>
            <a:r>
              <a:t>0.991 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3832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923C"/>
                </a:solidFill>
              </a:defRPr>
            </a:pPr>
            <a:r>
              <a:t>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12m Prepayment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0.497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0.877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0.007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FR-3 Survival Model:  AUC 0.998  vs  Baseline 0.515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All metrics from held-out test set · Time-aware split · No data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Explainability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</a:defRPr>
            </a:pPr>
            <a:r>
              <a:t>FR-6: SHAP Explainability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Global SHAP summaries for all 3 models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  (delinquency, default, prepayment)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Per-loan waterfall plots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  (top drivers: days_past_due, DTI, balance)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3 FP + 3 FN examples with hypothesized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</a:defRPr>
            </a:pPr>
            <a:r>
              <a:t>FR-4: Anomaly Detection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Hybrid: Isolation Forest + 5 deterministic rules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1,857 records flagged in test set:</a:t>
            </a:r>
          </a:p>
          <a:p>
            <a:pPr>
              <a:defRPr sz="1600" b="0">
                <a:solidFill>
                  <a:srgbClr val="00D4AA"/>
                </a:solidFill>
              </a:defRPr>
            </a:pPr>
            <a:r>
              <a:t>  - 1,161 document gaps</a:t>
            </a:r>
          </a:p>
          <a:p>
            <a:pPr>
              <a:defRPr sz="1600" b="0">
                <a:solidFill>
                  <a:srgbClr val="00D4AA"/>
                </a:solidFill>
              </a:defRPr>
            </a:pPr>
            <a:r>
              <a:t>  - 736 stale servicer updates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Servicer reconciliation with full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FR-7: Governed LLM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2200" b="1">
                <a:solidFill>
                  <a:srgbClr val="FB923C"/>
                </a:solidFill>
              </a:defRPr>
            </a:pPr>
            <a:r>
              <a:t>How it works: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1. Retrieve loan's SHAP values, probabilities, anomaly score, exception type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2. Inject structured context into a grounded prompt template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3. Gemini API generates a plain-English reviewer note</a:t>
            </a:r>
          </a:p>
          <a:p>
            <a:pPr>
              <a:defRPr sz="1700" b="0">
                <a:solidFill>
                  <a:srgbClr val="00D4AA"/>
                </a:solidFill>
              </a:defRPr>
            </a:pPr>
            <a:r>
              <a:t>4. Every output labeled:  "Recommendation — not a decision"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2200" b="1">
                <a:solidFill>
                  <a:srgbClr val="FB923C"/>
                </a:solidFill>
              </a:defRPr>
            </a:pPr>
            <a:r>
              <a:t>Governance &amp; Safety: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All prompts + responses logged to llm_prompt_log.jsonl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3 documented failure examples (hallucination, overconfidence, confabulation)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Automatic MockLLM fallback on rate limits (429 errors)</a:t>
            </a:r>
          </a:p>
          <a:p>
            <a:pPr>
              <a:defRPr sz="1700" b="0">
                <a:solidFill>
                  <a:srgbClr val="00D4AA"/>
                </a:solidFill>
              </a:defRPr>
            </a:pPr>
            <a:r>
              <a:t>• LLM narrates numbers — never generates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Deliverables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submission.csv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23,894 rows · 15 columns · 0 nulls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MODEL_CARD.md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57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209 lines · metrics, features, limitations,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Architecture, setup, run order, disqualifier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8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429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FR-1 through FR-7 + servicer reconciliation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AI_DEVELOPMENT_LOG.md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16 log entries · 7 rejected/corrected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18 unit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800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Time-split, leakage audit, servicer reconciliation — all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demo_script.md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15-step scripted walkthrough with line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Fully reproducible:  python -m src.run_pipeline --stage 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</a:defRPr>
            </a:pPr>
            <a:r>
              <a:t>Loan Performance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One command  ·  8 functional requirements  ·  Zero nulls</a:t>
            </a:r>
            <a:br/>
            <a:r>
              <a:t>18 tests passing  ·  All metrics from real held-out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Widescreen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Sharvesh S</cp:lastModifiedBy>
  <cp:revision>2</cp:revision>
  <dcterms:created xsi:type="dcterms:W3CDTF">2013-01-27T09:14:16Z</dcterms:created>
  <dcterms:modified xsi:type="dcterms:W3CDTF">2026-08-31T14:55:14Z</dcterms:modified>
  <cp:category/>
</cp:coreProperties>
</file>